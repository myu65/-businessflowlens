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1437eb69e45a6" /><Relationship Type="http://schemas.openxmlformats.org/officeDocument/2006/relationships/extended-properties" Target="/docProps/app.xml" Id="R76d2a8306ab74219" /><Relationship Type="http://schemas.openxmlformats.org/officeDocument/2006/relationships/officeDocument" Target="/ppt/presentation.xml" Id="Rafff1787e9ba49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8cd90b52564c72"/>
  </p:sldMasterIdLst>
  <p:notesMasterIdLst>
    <p:notesMasterId xmlns:r="http://schemas.openxmlformats.org/officeDocument/2006/relationships" r:id="Rba98237f2e2c464b"/>
  </p:notesMasterIdLst>
  <p:sldIdLst>
    <p:sldId xmlns:r="http://schemas.openxmlformats.org/officeDocument/2006/relationships" id="256" r:id="R5799b5e2196d4dba"/>
    <p:sldId xmlns:r="http://schemas.openxmlformats.org/officeDocument/2006/relationships" id="257" r:id="R89765ecc346f428e"/>
    <p:sldId xmlns:r="http://schemas.openxmlformats.org/officeDocument/2006/relationships" id="258" r:id="Rd2cb209ae28d4e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3fe9f960ee428b" /><Relationship Type="http://schemas.openxmlformats.org/officeDocument/2006/relationships/slideMaster" Target="/ppt/slideMasters/slideMaster1.xml" Id="Rad8cd90b52564c72" /><Relationship Type="http://schemas.openxmlformats.org/officeDocument/2006/relationships/notesMaster" Target="/ppt/notesMasters/notesMaster1.xml" Id="Rba98237f2e2c464b" /><Relationship Type="http://schemas.openxmlformats.org/officeDocument/2006/relationships/presProps" Target="/ppt/presProps.xml" Id="R6729f3880b254e51" /><Relationship Type="http://schemas.openxmlformats.org/officeDocument/2006/relationships/tableStyles" Target="/ppt/tableStyles.xml" Id="R17285b97631c40ea" /><Relationship Type="http://schemas.openxmlformats.org/officeDocument/2006/relationships/slide" Target="/ppt/slides/slide1.xml" Id="R5799b5e2196d4dba" /><Relationship Type="http://schemas.openxmlformats.org/officeDocument/2006/relationships/slide" Target="/ppt/slides/slide2.xml" Id="R89765ecc346f428e" /><Relationship Type="http://schemas.openxmlformats.org/officeDocument/2006/relationships/slide" Target="/ppt/slides/slide3.xml" Id="Rd2cb209ae28d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37f03b3ed44c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d617311504189" /><Relationship Type="http://schemas.openxmlformats.org/officeDocument/2006/relationships/notesMaster" Target="/ppt/notesMasters/notesMaster1.xml" Id="R4269c1a35f23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bb97ec75a4f8b" /><Relationship Type="http://schemas.openxmlformats.org/officeDocument/2006/relationships/notesMaster" Target="/ppt/notesMasters/notesMaster1.xml" Id="R4d05144b260443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44f5a9500403a" /><Relationship Type="http://schemas.openxmlformats.org/officeDocument/2006/relationships/notesMaster" Target="/ppt/notesMasters/notesMaster1.xml" Id="R2d27d99541cf49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架空の検証資料。矢印の方向と条件を読むための業務図。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架空の補足票。前ページとのメール・Teamsと再開先の食い違いを解消する答えは記載していない。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架空の検証資料。図で示した社内と社外の受渡し以外、業者内部を補完しない。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086297eec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3622e76e774ec1" /><Relationship Type="http://schemas.openxmlformats.org/officeDocument/2006/relationships/slideLayout" Target="/ppt/slideLayouts/slideLayout1.xml" Id="Rc3d3bd0c59d5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3bd0c59d5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819f2678741e8" /><Relationship Type="http://schemas.openxmlformats.org/officeDocument/2006/relationships/notesSlide" Target="/ppt/notesSlides/notesSlide1.xml" Id="Rc17dabb12334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917e3da2f444d" /><Relationship Type="http://schemas.openxmlformats.org/officeDocument/2006/relationships/notesSlide" Target="/ppt/notesSlides/notesSlide2.xml" Id="R92c1464e52bc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5bbae83c94c3d" /><Relationship Type="http://schemas.openxmlformats.org/officeDocument/2006/relationships/notesSlide" Target="/ppt/notesSlides/notesSlide3.xml" Id="R1b3e225b2cdd4a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23EBF830-CB3D-46B7-9C39-943EC2D4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受注の与信判定と解除依頼</a:t>
            </a:r>
          </a:p>
        </p:txBody>
      </p:sp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C21782D3-EE90-4854-84A3-6E4202F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東工場 現行業務  /  架空の化学メーカーの監査資料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9C52269C-FC4E-480B-9226-D2F0662A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484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架空の検証資料  1 / 3</a:t>
            </a:r>
          </a:p>
        </p:txBody>
      </p:sp>
      <p:sp>
        <p:nvSpPr>
          <p:cNvPr id="4" name="sales">
            <a:extLst xmlns:a="http://schemas.openxmlformats.org/drawingml/2006/main">
              <a:ext uri="{FF2B5EF4-FFF2-40B4-BE49-F238E27FC236}">
                <a16:creationId xmlns:a16="http://schemas.microsoft.com/office/drawing/2014/main" id="{5A797B59-3745-42C1-88D8-6FDEB966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28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営業がSAPに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受注を入力</a:t>
            </a:r>
          </a:p>
        </p:txBody>
      </p:sp>
      <p:sp>
        <p:nvSpPr>
          <p:cNvPr id="5" name="price">
            <a:extLst xmlns:a="http://schemas.openxmlformats.org/drawingml/2006/main">
              <a:ext uri="{FF2B5EF4-FFF2-40B4-BE49-F238E27FC236}">
                <a16:creationId xmlns:a16="http://schemas.microsoft.com/office/drawing/2014/main" id="{8D77D516-CA94-4310-AFB2-0665062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28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SAPが自動で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価格を決定</a:t>
            </a:r>
          </a:p>
        </p:txBody>
      </p:sp>
      <p:sp>
        <p:nvSpPr>
          <p:cNvPr id="6" name="credit">
            <a:extLst xmlns:a="http://schemas.openxmlformats.org/drawingml/2006/main">
              <a:ext uri="{FF2B5EF4-FFF2-40B4-BE49-F238E27FC236}">
                <a16:creationId xmlns:a16="http://schemas.microsoft.com/office/drawing/2014/main" id="{B74301CF-92D4-4869-A6F8-E6BBFEA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SAPが自動で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与信を判定</a:t>
            </a:r>
          </a:p>
        </p:txBody>
      </p:sp>
      <p:sp>
        <p:nvSpPr>
          <p:cNvPr id="7" name="atp">
            <a:extLst xmlns:a="http://schemas.openxmlformats.org/drawingml/2006/main">
              <a:ext uri="{FF2B5EF4-FFF2-40B4-BE49-F238E27FC236}">
                <a16:creationId xmlns:a16="http://schemas.microsoft.com/office/drawing/2014/main" id="{6EACC623-945C-4FE4-8122-5B991C6A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SAPが自動で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出荷可否を判定</a:t>
            </a:r>
          </a:p>
        </p:txBody>
      </p:sp>
      <p:sp>
        <p:nvSpPr>
          <p:cNvPr id="8" name="plan">
            <a:extLst xmlns:a="http://schemas.openxmlformats.org/drawingml/2006/main">
              <a:ext uri="{FF2B5EF4-FFF2-40B4-BE49-F238E27FC236}">
                <a16:creationId xmlns:a16="http://schemas.microsoft.com/office/drawing/2014/main" id="{E9B69702-FD44-4E2E-8BE0-DFF0E357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2887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生産計画担当が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所要量を確認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928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2928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858000" y="2928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2928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13" name="within-limit">
            <a:extLst xmlns:a="http://schemas.openxmlformats.org/drawingml/2006/main">
              <a:ext uri="{FF2B5EF4-FFF2-40B4-BE49-F238E27FC236}">
                <a16:creationId xmlns:a16="http://schemas.microsoft.com/office/drawing/2014/main" id="{4B8EE9D6-F1E8-4022-80EF-89D70687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限度内</a:t>
            </a:r>
          </a:p>
        </p:txBody>
      </p:sp>
      <p:sp>
        <p:nvSpPr>
          <p:cNvPr id="14" name="held">
            <a:extLst xmlns:a="http://schemas.openxmlformats.org/drawingml/2006/main">
              <a:ext uri="{FF2B5EF4-FFF2-40B4-BE49-F238E27FC236}">
                <a16:creationId xmlns:a16="http://schemas.microsoft.com/office/drawing/2014/main" id="{0C4BA314-ED51-455C-80C7-B802033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434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SAPが出荷を保留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営業がTeamsで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解除を依頼</a:t>
            </a:r>
          </a:p>
        </p:txBody>
      </p:sp>
      <p:sp>
        <p:nvSpPr>
          <p:cNvPr id="15" name="finance">
            <a:extLst xmlns:a="http://schemas.openxmlformats.org/drawingml/2006/main">
              <a:ext uri="{FF2B5EF4-FFF2-40B4-BE49-F238E27FC236}">
                <a16:creationId xmlns:a16="http://schemas.microsoft.com/office/drawing/2014/main" id="{F1E19BB0-6D9D-41F6-AEB5-3E130FF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経理担当が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解除可否を判断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953125" y="3429000"/>
            <a:ext cx="238125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17" name="over-limit">
            <a:extLst xmlns:a="http://schemas.openxmlformats.org/drawingml/2006/main">
              <a:ext uri="{FF2B5EF4-FFF2-40B4-BE49-F238E27FC236}">
                <a16:creationId xmlns:a16="http://schemas.microsoft.com/office/drawing/2014/main" id="{21A9F7A0-63A9-40B0-A923-4ABE4FD8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限度超過</a:t>
            </a:r>
          </a:p>
        </p:txBody>
      </p: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34250" y="51339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19" name="request-channel">
            <a:extLst xmlns:a="http://schemas.openxmlformats.org/drawingml/2006/main">
              <a:ext uri="{FF2B5EF4-FFF2-40B4-BE49-F238E27FC236}">
                <a16:creationId xmlns:a16="http://schemas.microsoft.com/office/drawing/2014/main" id="{FBD5EA11-C99C-4073-A015-518671E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291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解除依頼</a:t>
            </a:r>
          </a:p>
        </p:txBody>
      </p:sp>
      <p:sp>
        <p:nvSpPr>
          <p:cNvPr id="20" name="return-right-bottom">
            <a:extLst xmlns:a="http://schemas.openxmlformats.org/drawingml/2006/main">
              <a:ext uri="{FF2B5EF4-FFF2-40B4-BE49-F238E27FC236}">
                <a16:creationId xmlns:a16="http://schemas.microsoft.com/office/drawing/2014/main" id="{1F40A84D-3AF5-4FE6-A167-19CFC7D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12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return-right-top">
            <a:extLst xmlns:a="http://schemas.openxmlformats.org/drawingml/2006/main">
              <a:ext uri="{FF2B5EF4-FFF2-40B4-BE49-F238E27FC236}">
                <a16:creationId xmlns:a16="http://schemas.microsoft.com/office/drawing/2014/main" id="{1E330F0E-50CE-4B7D-806E-385D49C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62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eturn-over-credit">
            <a:extLst xmlns:a="http://schemas.openxmlformats.org/drawingml/2006/main">
              <a:ext uri="{FF2B5EF4-FFF2-40B4-BE49-F238E27FC236}">
                <a16:creationId xmlns:a16="http://schemas.microsoft.com/office/drawing/2014/main" id="{3A79FDB8-4729-42DD-9667-54E61BE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11049000" y="5129213"/>
            <a:ext cx="666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none" w="med" len="med"/>
          </a:ln>
        </p:spPr>
      </p:cxnSp>
      <p:cxnSp>
        <p:nvCxnSpPr>
          <p:cNvPr id="52" name=""/>
          <p:cNvCxnSpPr>
            <a:stCxn xmlns:a="http://schemas.openxmlformats.org/drawingml/2006/main" id="20" idx="0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11720513" y="1771650"/>
            <a:ext cx="0" cy="3352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none" w="med" len="med"/>
          </a:ln>
        </p:spPr>
      </p:cxnSp>
      <p:cxnSp>
        <p:nvCxnSpPr>
          <p:cNvPr id="53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5962650" y="1766888"/>
            <a:ext cx="57531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none" w="med" len="med"/>
          </a:ln>
        </p:spPr>
      </p:cxnSp>
      <p:cxnSp>
        <p:nvCxnSpPr>
          <p:cNvPr id="54" name=""/>
          <p:cNvCxnSpPr>
            <a:stCxn xmlns:a="http://schemas.openxmlformats.org/drawingml/2006/main" id="2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5953125" y="1771650"/>
            <a:ext cx="4763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27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8BF2A956-5798-41D1-8454-3FDF40F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66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解除可</a:t>
            </a:r>
          </a:p>
        </p:txBody>
      </p:sp>
      <p:sp>
        <p:nvSpPr>
          <p:cNvPr id="28" name="hold-note">
            <a:extLst xmlns:a="http://schemas.openxmlformats.org/drawingml/2006/main">
              <a:ext uri="{FF2B5EF4-FFF2-40B4-BE49-F238E27FC236}">
                <a16:creationId xmlns:a16="http://schemas.microsoft.com/office/drawing/2014/main" id="{BBF7B966-D042-445E-9DE9-D9DD027E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055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解除不可の場合は、出荷を保留したままにする。</a:t>
            </a:r>
          </a:p>
        </p:txBody>
      </p:sp>
    </p:spTree>
    <p:extLst>
      <p:ext uri="{BB962C8B-B14F-4D97-AF65-F5344CB8AC3E}">
        <p14:creationId xmlns:p14="http://schemas.microsoft.com/office/powerpoint/2010/main" val="95456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0171B43E-7C8B-4841-A908-61C6DCB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受注処理の補足票 更新日未記入</a:t>
            </a:r>
          </a:p>
        </p:txBody>
      </p:sp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F14C96DA-0176-4509-A6F8-D43E3A40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東工場 現行業務  /  架空の化学メーカーの監査資料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897BCEF-8F57-431D-A148-ABAF5B8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484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架空の検証資料  2 / 3</a:t>
            </a:r>
          </a:p>
        </p:txBody>
      </p:sp>
      <p:sp>
        <p:nvSpPr>
          <p:cNvPr id="4" name="same-work">
            <a:extLst xmlns:a="http://schemas.openxmlformats.org/drawingml/2006/main">
              <a:ext uri="{FF2B5EF4-FFF2-40B4-BE49-F238E27FC236}">
                <a16:creationId xmlns:a16="http://schemas.microsoft.com/office/drawing/2014/main" id="{D2148620-2CA8-438E-A310-3BB30569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受注入力・価格決定・与信判定は前ページと同じ。</a:t>
            </a:r>
          </a:p>
        </p:txBody>
      </p:sp>
      <p:sp>
        <p:nvSpPr>
          <p:cNvPr id="5" name="held2">
            <a:extLst xmlns:a="http://schemas.openxmlformats.org/drawingml/2006/main">
              <a:ext uri="{FF2B5EF4-FFF2-40B4-BE49-F238E27FC236}">
                <a16:creationId xmlns:a16="http://schemas.microsoft.com/office/drawing/2014/main" id="{6AF76147-D352-4CEE-B758-CAF883E9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与信限度超過で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出荷を保留</a:t>
            </a:r>
          </a:p>
        </p:txBody>
      </p:sp>
      <p:sp>
        <p:nvSpPr>
          <p:cNvPr id="6" name="request2">
            <a:extLst xmlns:a="http://schemas.openxmlformats.org/drawingml/2006/main">
              <a:ext uri="{FF2B5EF4-FFF2-40B4-BE49-F238E27FC236}">
                <a16:creationId xmlns:a16="http://schemas.microsoft.com/office/drawing/2014/main" id="{01F4B264-9722-4361-9E1A-F4BBF6E5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286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営業がOutlookで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経理へ解除依頼</a:t>
            </a:r>
          </a:p>
        </p:txBody>
      </p:sp>
      <p:sp>
        <p:nvSpPr>
          <p:cNvPr id="7" name="finance2">
            <a:extLst xmlns:a="http://schemas.openxmlformats.org/drawingml/2006/main">
              <a:ext uri="{FF2B5EF4-FFF2-40B4-BE49-F238E27FC236}">
                <a16:creationId xmlns:a16="http://schemas.microsoft.com/office/drawing/2014/main" id="{BD65734C-D121-463D-AA20-830F7BB1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経理担当が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解除を承認</a:t>
            </a:r>
          </a:p>
        </p:txBody>
      </p:sp>
      <p:sp>
        <p:nvSpPr>
          <p:cNvPr id="8" name="atp2">
            <a:extLst xmlns:a="http://schemas.openxmlformats.org/drawingml/2006/main">
              <a:ext uri="{FF2B5EF4-FFF2-40B4-BE49-F238E27FC236}">
                <a16:creationId xmlns:a16="http://schemas.microsoft.com/office/drawing/2014/main" id="{1D30B6E8-8F01-4809-8340-04B6EE2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2000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SAPで出荷可否を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再判定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36909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86500" y="3690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39250" y="36909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12" name="release2">
            <a:extLst xmlns:a="http://schemas.openxmlformats.org/drawingml/2006/main">
              <a:ext uri="{FF2B5EF4-FFF2-40B4-BE49-F238E27FC236}">
                <a16:creationId xmlns:a16="http://schemas.microsoft.com/office/drawing/2014/main" id="{CD0B0BB7-6080-44DA-9DEC-34142E6A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765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解除可</a:t>
            </a:r>
          </a:p>
        </p:txBody>
      </p:sp>
      <p:sp>
        <p:nvSpPr>
          <p:cNvPr id="13" name="unknown-authority">
            <a:extLst xmlns:a="http://schemas.openxmlformats.org/drawingml/2006/main">
              <a:ext uri="{FF2B5EF4-FFF2-40B4-BE49-F238E27FC236}">
                <a16:creationId xmlns:a16="http://schemas.microsoft.com/office/drawing/2014/main" id="{05B16379-4000-415E-8906-6E25B495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625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承認欄は空欄。どの版を使うかは、この資料では確認できない。</a:t>
            </a:r>
          </a:p>
        </p:txBody>
      </p:sp>
    </p:spTree>
    <p:extLst>
      <p:ext uri="{BB962C8B-B14F-4D97-AF65-F5344CB8AC3E}">
        <p14:creationId xmlns:p14="http://schemas.microsoft.com/office/powerpoint/2010/main" val="1249711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A26C5000-BF26-4857-B2FC-BFC50613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42900"/>
            <a:ext cx="11506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委託検査の依頼と結果の受入</a:t>
            </a:r>
          </a:p>
        </p:txBody>
      </p:sp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DCF3B4BB-4191-4483-A2E7-A9B66C80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東工場 現行業務  /  架空の化学メーカーの監査資料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61EE1C9-A9A4-4E48-A723-8D036E4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484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架空の検証資料  3 / 3</a:t>
            </a:r>
          </a:p>
        </p:txBody>
      </p:sp>
      <p:sp>
        <p:nvSpPr>
          <p:cNvPr id="4" name="internal-request">
            <a:extLst xmlns:a="http://schemas.openxmlformats.org/drawingml/2006/main">
              <a:ext uri="{FF2B5EF4-FFF2-40B4-BE49-F238E27FC236}">
                <a16:creationId xmlns:a16="http://schemas.microsoft.com/office/drawing/2014/main" id="{DB78F30D-474E-40FD-B9B6-D5347D12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品質担当が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検査依頼書を作成</a:t>
            </a:r>
          </a:p>
        </p:txBody>
      </p:sp>
      <p:sp>
        <p:nvSpPr>
          <p:cNvPr id="5" name="external-provider">
            <a:extLst xmlns:a="http://schemas.openxmlformats.org/drawingml/2006/main">
              <a:ext uri="{FF2B5EF4-FFF2-40B4-BE49-F238E27FC236}">
                <a16:creationId xmlns:a16="http://schemas.microsoft.com/office/drawing/2014/main" id="{49FDEFFD-DA3A-4F27-BACC-8238DB4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190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19050">
            <a:solidFill>
              <a:srgbClr val="668476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外部検査会社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検査を実施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内部の進め方は未確認</a:t>
            </a:r>
          </a:p>
        </p:txBody>
      </p:sp>
      <p:sp>
        <p:nvSpPr>
          <p:cNvPr id="6" name="internal-result">
            <a:extLst xmlns:a="http://schemas.openxmlformats.org/drawingml/2006/main">
              <a:ext uri="{FF2B5EF4-FFF2-40B4-BE49-F238E27FC236}">
                <a16:creationId xmlns:a16="http://schemas.microsoft.com/office/drawing/2014/main" id="{BD841D14-3BCB-4535-A682-2D1838B3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2"/>
          </a:solidFill>
          <a:ln xmlns:a="http://schemas.openxmlformats.org/drawingml/2006/main" w="19050">
            <a:solidFill>
              <a:srgbClr val="66847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品質担当が</a:t>
            </a:r>
          </a:p>
          <a:p xmlns:a="http://schemas.openxmlformats.org/drawingml/2006/main">
            <a:pPr algn="ctr">
              <a:defRPr sz="180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成績書をLIMSに登録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86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2861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456854"/>
            </a:solidFill>
            <a:tailEnd type="triangle" w="med" len="med"/>
          </a:ln>
        </p:spPr>
      </p:cxnSp>
      <p:sp>
        <p:nvSpPr>
          <p:cNvPr id="9" name="sent-info">
            <a:extLst xmlns:a="http://schemas.openxmlformats.org/drawingml/2006/main">
              <a:ext uri="{FF2B5EF4-FFF2-40B4-BE49-F238E27FC236}">
                <a16:creationId xmlns:a16="http://schemas.microsoft.com/office/drawing/2014/main" id="{D2603FE8-7D6C-48BA-AB2F-91C65128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19275"/>
            <a:ext cx="2047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試料と依頼書</a:t>
            </a:r>
          </a:p>
          <a:p xmlns:a="http://schemas.openxmlformats.org/drawingml/2006/main">
            <a:pPr>
              <a:def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Outlookで連絡</a:t>
            </a:r>
          </a:p>
        </p:txBody>
      </p:sp>
      <p:sp>
        <p:nvSpPr>
          <p:cNvPr id="10" name="received-info">
            <a:extLst xmlns:a="http://schemas.openxmlformats.org/drawingml/2006/main">
              <a:ext uri="{FF2B5EF4-FFF2-40B4-BE49-F238E27FC236}">
                <a16:creationId xmlns:a16="http://schemas.microsoft.com/office/drawing/2014/main" id="{A66FC654-2899-471D-A855-B0633917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1927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PDFの成績書</a:t>
            </a:r>
          </a:p>
          <a:p xmlns:a="http://schemas.openxmlformats.org/drawingml/2006/main">
            <a:pPr>
              <a:def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Outlookで受取</a:t>
            </a:r>
          </a:p>
        </p:txBody>
      </p:sp>
      <p:sp>
        <p:nvSpPr>
          <p:cNvPr id="11" name="vendor-unknown">
            <a:extLst xmlns:a="http://schemas.openxmlformats.org/drawingml/2006/main">
              <a:ext uri="{FF2B5EF4-FFF2-40B4-BE49-F238E27FC236}">
                <a16:creationId xmlns:a16="http://schemas.microsoft.com/office/drawing/2014/main" id="{E50C62AA-BA67-459E-9D44-366403D8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47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業者内の担当・道具・判断基準は、社内からは見えていない。</a:t>
            </a:r>
          </a:p>
        </p:txBody>
      </p:sp>
      <p:sp>
        <p:nvSpPr>
          <p:cNvPr id="12" name="approval-unknown">
            <a:extLst xmlns:a="http://schemas.openxmlformats.org/drawingml/2006/main">
              <a:ext uri="{FF2B5EF4-FFF2-40B4-BE49-F238E27FC236}">
                <a16:creationId xmlns:a16="http://schemas.microsoft.com/office/drawing/2014/main" id="{CD250A6A-B56E-40E7-A977-AB25AB7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24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82B24"/>
                </a:solidFill>
                <a:latin typeface="Yu Gothic"/>
                <a:ea typeface="Yu Gothic"/>
                <a:cs typeface="Yu Gothic"/>
              </a:rPr>
              <a:t>社内の合否を決める担当は未確認。受取や登録だけで合格にはしない。</a:t>
            </a:r>
          </a:p>
        </p:txBody>
      </p:sp>
    </p:spTree>
    <p:extLst>
      <p:ext uri="{BB962C8B-B14F-4D97-AF65-F5344CB8AC3E}">
        <p14:creationId xmlns:p14="http://schemas.microsoft.com/office/powerpoint/2010/main" val="1645398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2026-10-05T04:30:51.0050000Z</dcterms:created>
  <dcterms:modified xsi:type="dcterms:W3CDTF">2026-10-05T04:30:51.0050000Z</dcterms:modified>
</coreProperties>
</file>